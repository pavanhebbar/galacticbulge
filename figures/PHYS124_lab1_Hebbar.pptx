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2" r:id="rId5"/>
    <p:sldId id="284" r:id="rId6"/>
    <p:sldId id="299" r:id="rId7"/>
    <p:sldId id="298" r:id="rId8"/>
    <p:sldId id="300" r:id="rId9"/>
    <p:sldId id="301" r:id="rId10"/>
    <p:sldId id="302" r:id="rId11"/>
    <p:sldId id="303" r:id="rId12"/>
    <p:sldId id="307" r:id="rId13"/>
    <p:sldId id="308" r:id="rId14"/>
    <p:sldId id="309" r:id="rId15"/>
    <p:sldId id="304" r:id="rId16"/>
    <p:sldId id="305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47" autoAdjust="0"/>
    <p:restoredTop sz="94574" autoAdjust="0"/>
  </p:normalViewPr>
  <p:slideViewPr>
    <p:cSldViewPr snapToGrid="0">
      <p:cViewPr>
        <p:scale>
          <a:sx n="120" d="100"/>
          <a:sy n="120" d="100"/>
        </p:scale>
        <p:origin x="-64" y="8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901FAF19-EC05-4368-9C23-D1307429BBA4}"/>
              </a:ext>
            </a:extLst>
          </p:cNvPr>
          <p:cNvSpPr/>
          <p:nvPr userDrawn="1"/>
        </p:nvSpPr>
        <p:spPr>
          <a:xfrm>
            <a:off x="8266176" y="4754879"/>
            <a:ext cx="2450592" cy="1664327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296D70-8C54-475E-8440-66769A72C583}"/>
              </a:ext>
            </a:extLst>
          </p:cNvPr>
          <p:cNvSpPr/>
          <p:nvPr userDrawn="1"/>
        </p:nvSpPr>
        <p:spPr>
          <a:xfrm>
            <a:off x="11832336" y="1097280"/>
            <a:ext cx="144000" cy="5321927"/>
          </a:xfrm>
          <a:prstGeom prst="rect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664" y="900583"/>
            <a:ext cx="11724336" cy="2706189"/>
          </a:xfrm>
          <a:noFill/>
          <a:effectLst/>
          <a:scene3d>
            <a:camera prst="orthographicFront"/>
            <a:lightRig rig="threePt" dir="t"/>
          </a:scene3d>
          <a:sp3d/>
        </p:spPr>
        <p:txBody>
          <a:bodyPr lIns="72000" rIns="180000" bIns="180000" anchor="ctr">
            <a:sp3d extrusionH="57150">
              <a:bevelT w="38100" h="38100" prst="angle"/>
              <a:bevelB w="38100" h="38100" prst="relaxedInset"/>
            </a:sp3d>
          </a:bodyPr>
          <a:lstStyle>
            <a:lvl1pPr algn="ctr">
              <a:lnSpc>
                <a:spcPct val="100000"/>
              </a:lnSpc>
              <a:defRPr sz="8000">
                <a:solidFill>
                  <a:srgbClr val="FFFF00"/>
                </a:solidFill>
                <a:effectLst>
                  <a:glow rad="63500">
                    <a:schemeClr val="accent4">
                      <a:lumMod val="75000"/>
                      <a:alpha val="40000"/>
                    </a:schemeClr>
                  </a:glow>
                  <a:outerShdw blurRad="50800" dist="38100" algn="l" rotWithShape="0">
                    <a:schemeClr val="accent4">
                      <a:lumMod val="50000"/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noProof="0" dirty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400" y="3750772"/>
            <a:ext cx="9457200" cy="2206644"/>
          </a:xfrm>
          <a:noFill/>
          <a:ln>
            <a:noFill/>
          </a:ln>
        </p:spPr>
        <p:txBody>
          <a:bodyPr tIns="144000" rIns="180000">
            <a:scene3d>
              <a:camera prst="orthographicFront"/>
              <a:lightRig rig="threePt" dir="t"/>
            </a:scene3d>
            <a:sp3d extrusionH="57150">
              <a:bevelT w="82550" h="38100" prst="coolSlant"/>
              <a:bevelB w="38100" h="38100" prst="relaxedInset"/>
            </a:sp3d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4CB2-DBAA-AD44-9E26-0B8CD63D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A4CDF-27DE-2849-98F6-67BC89137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0CBBB-8140-8C48-8304-71912326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80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6E7EBFD-F776-4FA5-B67B-AEAB104C7125}"/>
              </a:ext>
            </a:extLst>
          </p:cNvPr>
          <p:cNvSpPr/>
          <p:nvPr userDrawn="1"/>
        </p:nvSpPr>
        <p:spPr>
          <a:xfrm>
            <a:off x="8418576" y="4907280"/>
            <a:ext cx="1554480" cy="1103376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9100" y="804500"/>
            <a:ext cx="4416588" cy="381871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099" y="4623212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01C03F-F087-4546-A9C3-5B5B81E3BD7B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205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AB7A8BA-0531-4A37-BB60-9E1CA4764B40}"/>
              </a:ext>
            </a:extLst>
          </p:cNvPr>
          <p:cNvSpPr/>
          <p:nvPr userDrawn="1"/>
        </p:nvSpPr>
        <p:spPr>
          <a:xfrm>
            <a:off x="1450848" y="653845"/>
            <a:ext cx="2657856" cy="2450592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81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E842FA8-E742-4FD8-BFA1-7B8A13828E76}"/>
              </a:ext>
            </a:extLst>
          </p:cNvPr>
          <p:cNvSpPr/>
          <p:nvPr userDrawn="1"/>
        </p:nvSpPr>
        <p:spPr>
          <a:xfrm>
            <a:off x="8418576" y="49072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F5D8CC-DBBC-4E65-A552-C98514F1E2F9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69100" y="144000"/>
            <a:ext cx="5280100" cy="6048000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93000" y="2438399"/>
            <a:ext cx="38362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432000" tIns="432000" rIns="72000" bIns="1188000" anchor="t"/>
          <a:lstStyle>
            <a:lvl1pPr algn="l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7000" y="4465176"/>
            <a:ext cx="3372329" cy="7749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lIns="180000" tIns="144000" rIns="0"/>
          <a:lstStyle>
            <a:lvl1pPr marL="0" indent="0" algn="l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2000" y="2438399"/>
            <a:ext cx="5472000" cy="30444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708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34827DBE-7690-48BE-8673-ABB67E101D80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5280100" cy="6060155"/>
          </a:xfrm>
          <a:solidFill>
            <a:schemeClr val="tx1"/>
          </a:solidFill>
        </p:spPr>
        <p:txBody>
          <a:bodyPr lIns="0" tIns="144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0" y="3263899"/>
            <a:ext cx="5472000" cy="24420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99E1708-B7A6-4D6F-9968-5398B335F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1" y="4889912"/>
            <a:ext cx="4840085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29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DE35ADD-8A62-4F35-950B-EA0CC678DE64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999" y="1408165"/>
            <a:ext cx="11339513" cy="469966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marL="0" indent="0">
              <a:buNone/>
              <a:defRPr sz="4000">
                <a:solidFill>
                  <a:srgbClr val="FFFF00"/>
                </a:solidFill>
                <a:effectLst>
                  <a:glow rad="63500">
                    <a:schemeClr val="accent4">
                      <a:lumMod val="75000"/>
                      <a:alpha val="40000"/>
                    </a:schemeClr>
                  </a:glow>
                  <a:outerShdw blurRad="50800" dist="38100" dir="2700000" algn="tl" rotWithShape="0">
                    <a:schemeClr val="accent4">
                      <a:lumMod val="50000"/>
                      <a:alpha val="40000"/>
                    </a:schemeClr>
                  </a:outerShdw>
                </a:effectLst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DBAC9A-28A2-405B-8B7E-9BE425F51354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944001"/>
            <a:ext cx="11339999" cy="3945522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367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D215-79E5-48E4-95DB-2C5E5A1F8E8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F905B34-4C18-4A8D-8167-57B7BF03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DA3C530-12F9-48FC-BC5E-D34BDC504B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00" y="143999"/>
            <a:ext cx="11905200" cy="6047999"/>
          </a:xfrm>
          <a:solidFill>
            <a:schemeClr val="tx1"/>
          </a:solidFill>
        </p:spPr>
        <p:txBody>
          <a:bodyPr lIns="0" r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64900" y="4910452"/>
            <a:ext cx="4101900" cy="773546"/>
          </a:xfrm>
          <a:solidFill>
            <a:schemeClr val="bg1">
              <a:lumMod val="95000"/>
            </a:schemeClr>
          </a:solidFill>
        </p:spPr>
        <p:txBody>
          <a:bodyPr lIns="180000" tIns="72000" rIns="180000" anchor="t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14527-4DF5-4A98-AE66-C80F3B8E6D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05C513-FBE3-4BA7-9084-69899356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1764000" rIns="0" anchor="ctr"/>
          <a:lstStyle>
            <a:lvl1pPr marL="0" indent="0" algn="l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5412" y="360000"/>
            <a:ext cx="4416588" cy="471657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5413" y="5076572"/>
            <a:ext cx="4416587" cy="1421429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4680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.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EB7A85F-8707-4B62-B299-F53931B861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48708" y="5540135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4C7E3C-7C17-46E9-928A-D3D505EEAA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48708" y="5809779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ADD6EB2-7D8E-4991-87A6-02723731E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48708" y="6079423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4054031-2BEC-4DA9-90C3-616D2D61A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43550" y="5233270"/>
            <a:ext cx="3396887" cy="196707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160684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6F629-658F-4B7E-A1D1-2522EA76B0D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380A33-49FB-43FC-B60E-34A2E555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F16635-76F3-45F7-9385-A99504D2B90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008000"/>
            <a:ext cx="11339999" cy="48815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C8E421-28C0-4976-A17C-22789B6F3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08000"/>
            <a:ext cx="5505225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AFEAA85-DD59-4B9B-B080-3368277EF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08000"/>
            <a:ext cx="5587800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EAE3C73-B1A9-4A3B-8DD2-5A3492079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08000"/>
            <a:ext cx="559980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3A52FEF-F917-4982-9855-43A0DF5DA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5912"/>
            <a:ext cx="5599800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1CA8AB-B7BE-4C9F-9A0A-C849A35A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08000"/>
            <a:ext cx="55655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B0DF164-9487-4D3F-BA7D-E273D7F5A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975912"/>
            <a:ext cx="5565575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7921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4F2FFD-7164-411A-96A5-A5211A6C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E38C26-A932-4007-84B1-21C1D9744A76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87EF18-D404-4A92-BE37-7AC9B7223D5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3FD9-234A-4B72-9A91-D7DD23D39CD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DBADDA-AF39-45A0-BBAB-A87608C0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4416588" cy="5321927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5681926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4564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58493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F269EA-6AE9-449D-BE5A-03758EA88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0"/>
            <a:ext cx="4840085" cy="816077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73F491-E8FD-4CBC-84E6-5139D5161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51641"/>
            <a:ext cx="5472001" cy="5054346"/>
          </a:xfrm>
        </p:spPr>
        <p:txBody>
          <a:bodyPr anchor="b" anchorCtr="0"/>
          <a:lstStyle>
            <a:lvl1pPr>
              <a:defRPr sz="20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7883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C12A5E3-4178-4927-9321-CCDE04B7D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1"/>
            <a:ext cx="4840085" cy="816076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73C2D913-09CE-4035-84E6-314496115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7" y="651641"/>
            <a:ext cx="5472002" cy="50543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14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F7BF0-5084-45F6-AF52-A3013D43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718816" y="2673350"/>
            <a:ext cx="6754368" cy="1511300"/>
          </a:xfrm>
        </p:spPr>
        <p:txBody>
          <a:bodyPr anchor="ctr"/>
          <a:lstStyle>
            <a:lvl1pPr marL="0" indent="0" algn="ctr">
              <a:buNone/>
              <a:defRPr sz="4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5443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9BE28-009E-4D88-9951-81B453F75A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726F2C-157B-477E-AD76-8F54126834C2}"/>
              </a:ext>
            </a:extLst>
          </p:cNvPr>
          <p:cNvSpPr/>
          <p:nvPr userDrawn="1"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1999"/>
            <a:ext cx="11340000" cy="778273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/>
        </p:spPr>
        <p:txBody>
          <a:bodyPr vert="horz" lIns="0" tIns="0" rIns="0" bIns="0" rtlCol="0" anchor="ctr">
            <a:noAutofit/>
            <a:sp3d extrusionH="57150">
              <a:bevelT w="38100" h="38100" prst="angle"/>
              <a:bevelB w="82550" h="38100" prst="coolSlant"/>
            </a:sp3d>
          </a:bodyPr>
          <a:lstStyle/>
          <a:p>
            <a:r>
              <a:rPr lang="en-US" noProof="0" dirty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40000" cy="43775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FB90F-5E6B-4508-96BB-939635D11AFF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4A1CB7-B157-440C-BA82-A62890EF3721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B1BAC-5CBE-4B0E-B0AA-1C05EBEE964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68BD16A-5998-4CCA-B0F2-62F67B639A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2000" y="6237549"/>
            <a:ext cx="576000" cy="576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lIns="0" tIns="0" rIns="0" bIns="0" rtlCol="0" anchor="ctr"/>
          <a:lstStyle>
            <a:lvl1pPr algn="ctr">
              <a:defRPr sz="2500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4073D-A46C-C14F-A9A9-4B8363169744}"/>
              </a:ext>
            </a:extLst>
          </p:cNvPr>
          <p:cNvSpPr txBox="1"/>
          <p:nvPr userDrawn="1"/>
        </p:nvSpPr>
        <p:spPr>
          <a:xfrm>
            <a:off x="4287982" y="6286098"/>
            <a:ext cx="3616036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Pavan R Hebbar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4B7911-8E52-BE40-A30A-D562AB7E97F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73182" y="6262998"/>
            <a:ext cx="2091252" cy="483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0D1FFE-FB36-8F42-9C8C-069E2D20E636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2408434" y="6213475"/>
            <a:ext cx="1003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62" r:id="rId3"/>
    <p:sldLayoutId id="2147483663" r:id="rId4"/>
    <p:sldLayoutId id="2147483665" r:id="rId5"/>
    <p:sldLayoutId id="2147483666" r:id="rId6"/>
    <p:sldLayoutId id="2147483673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71" r:id="rId13"/>
    <p:sldLayoutId id="2147483656" r:id="rId14"/>
    <p:sldLayoutId id="2147483657" r:id="rId15"/>
    <p:sldLayoutId id="2147483667" r:id="rId16"/>
    <p:sldLayoutId id="2147483668" r:id="rId17"/>
    <p:sldLayoutId id="2147483669" r:id="rId18"/>
    <p:sldLayoutId id="2147483672" r:id="rId19"/>
    <p:sldLayoutId id="2147483654" r:id="rId20"/>
    <p:sldLayoutId id="2147483674" r:id="rId21"/>
    <p:sldLayoutId id="214748365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4"/>
          </a:solidFill>
          <a:effectLst>
            <a:outerShdw blurRad="50800" dist="38100" dir="2700000" algn="tl" rotWithShape="0">
              <a:schemeClr val="accent4">
                <a:lumMod val="50000"/>
                <a:alpha val="40000"/>
              </a:schemeClr>
            </a:outerShdw>
          </a:effectLst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i="0" kern="1200">
          <a:solidFill>
            <a:schemeClr val="bg1"/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i="0" kern="1200">
          <a:solidFill>
            <a:schemeClr val="bg1">
              <a:lumMod val="85000"/>
            </a:schemeClr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i="0" kern="1200">
          <a:solidFill>
            <a:schemeClr val="bg1"/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700" b="1" i="0" kern="1200">
          <a:solidFill>
            <a:schemeClr val="bg1">
              <a:lumMod val="85000"/>
            </a:schemeClr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700" b="0" i="0" kern="1200">
          <a:solidFill>
            <a:schemeClr val="bg1"/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physugl@ualberta.ca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359999"/>
            <a:ext cx="11566957" cy="3390773"/>
          </a:xfrm>
        </p:spPr>
        <p:txBody>
          <a:bodyPr/>
          <a:lstStyle/>
          <a:p>
            <a:r>
              <a:rPr lang="en-US" dirty="0"/>
              <a:t>Graphing &amp; Spreadsheets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/>
          <a:lstStyle/>
          <a:p>
            <a:r>
              <a:rPr lang="en-US" sz="4800" dirty="0"/>
              <a:t>Pavan R Hebbar</a:t>
            </a:r>
            <a:br>
              <a:rPr lang="en-US" sz="4800" dirty="0"/>
            </a:br>
            <a:r>
              <a:rPr lang="en-US" sz="3600" dirty="0"/>
              <a:t>CCIS 2-108</a:t>
            </a:r>
            <a:br>
              <a:rPr lang="en-US" sz="3600" dirty="0"/>
            </a:br>
            <a:r>
              <a:rPr lang="en-US" sz="3600" u="sng" dirty="0" err="1"/>
              <a:t>hebbar@ualberta.ca</a:t>
            </a:r>
            <a:endParaRPr lang="en-US" sz="3600" u="sng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Who am 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487" y="1250798"/>
            <a:ext cx="11339513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882432"/>
            <a:ext cx="11340000" cy="409633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9D3AD7-15BC-2C40-835E-CE8F35755751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38415" t="-411" r="5419" b="411"/>
          <a:stretch/>
        </p:blipFill>
        <p:spPr>
          <a:xfrm>
            <a:off x="748523" y="1701450"/>
            <a:ext cx="4280400" cy="4279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8956BD-C6AC-A342-B90D-D8431E79A6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54" b="11020"/>
          <a:stretch/>
        </p:blipFill>
        <p:spPr>
          <a:xfrm>
            <a:off x="7200899" y="1701450"/>
            <a:ext cx="4280400" cy="4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Admin stuff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487" y="1250798"/>
            <a:ext cx="11339513" cy="360000"/>
          </a:xfrm>
        </p:spPr>
        <p:txBody>
          <a:bodyPr/>
          <a:lstStyle/>
          <a:p>
            <a:r>
              <a:rPr lang="en-US" dirty="0"/>
              <a:t>Bear with me, I have to do this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882432"/>
            <a:ext cx="11340000" cy="4096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3200" b="0" dirty="0">
                <a:solidFill>
                  <a:schemeClr val="bg1"/>
                </a:solidFill>
              </a:rPr>
              <a:t>UGL staff</a:t>
            </a:r>
            <a:r>
              <a:rPr lang="en-CA" sz="2800" b="0" dirty="0">
                <a:solidFill>
                  <a:schemeClr val="bg1"/>
                </a:solidFill>
              </a:rPr>
              <a:t>: Kyle Foster, William </a:t>
            </a:r>
            <a:r>
              <a:rPr lang="en-CA" sz="2800" b="0" dirty="0" err="1">
                <a:solidFill>
                  <a:schemeClr val="bg1"/>
                </a:solidFill>
              </a:rPr>
              <a:t>Morrish</a:t>
            </a:r>
            <a:r>
              <a:rPr lang="en-CA" sz="2800" b="0" dirty="0">
                <a:solidFill>
                  <a:schemeClr val="bg1"/>
                </a:solidFill>
              </a:rPr>
              <a:t>, Prof. Al Meldrum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  <a:hlinkClick r:id="rId2"/>
              </a:rPr>
              <a:t>physugl@ualberta.ca</a:t>
            </a:r>
            <a:endParaRPr lang="en-CA" sz="2400" b="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Access course content, submit assignments &amp; grading via Canvas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Lab reports due 48 hrs after the end of lab session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Upload </a:t>
            </a:r>
            <a:r>
              <a:rPr lang="en-CA" sz="2400" b="0" u="sng" dirty="0">
                <a:solidFill>
                  <a:schemeClr val="bg1"/>
                </a:solidFill>
              </a:rPr>
              <a:t>***</a:t>
            </a:r>
            <a:r>
              <a:rPr lang="en-CA" sz="2400" u="sng" dirty="0">
                <a:solidFill>
                  <a:schemeClr val="bg1"/>
                </a:solidFill>
              </a:rPr>
              <a:t>ONE***,</a:t>
            </a:r>
            <a:r>
              <a:rPr lang="en-CA" sz="2400" b="0" u="sng" dirty="0">
                <a:solidFill>
                  <a:schemeClr val="bg1"/>
                </a:solidFill>
              </a:rPr>
              <a:t> computer generated</a:t>
            </a:r>
            <a:r>
              <a:rPr lang="en-CA" sz="2400" b="0" dirty="0">
                <a:solidFill>
                  <a:schemeClr val="bg1"/>
                </a:solidFill>
              </a:rPr>
              <a:t> PDF file (&lt; 4 pages)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Late assignments w/o prior approval shall be graded ZERO</a:t>
            </a:r>
          </a:p>
        </p:txBody>
      </p:sp>
    </p:spTree>
    <p:extLst>
      <p:ext uri="{BB962C8B-B14F-4D97-AF65-F5344CB8AC3E}">
        <p14:creationId xmlns:p14="http://schemas.microsoft.com/office/powerpoint/2010/main" val="346903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Admin stuff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487" y="1250798"/>
            <a:ext cx="11339513" cy="360000"/>
          </a:xfrm>
        </p:spPr>
        <p:txBody>
          <a:bodyPr/>
          <a:lstStyle/>
          <a:p>
            <a:r>
              <a:rPr lang="en-US" dirty="0"/>
              <a:t>Bear with me, I have to do this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882432"/>
            <a:ext cx="11340000" cy="4096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Attendance is mandatory: Sign-in and Sign-out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If you are more than 15 min late, your attendance will not be recorded.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If you sign out early, you only get to ask 2 questions through e-mail.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Excused absences: Apply for redo lab within 48 hrs of the missed lab. Email me, too.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Email me, or use anonymous forum to ask questions.</a:t>
            </a:r>
          </a:p>
        </p:txBody>
      </p:sp>
    </p:spTree>
    <p:extLst>
      <p:ext uri="{BB962C8B-B14F-4D97-AF65-F5344CB8AC3E}">
        <p14:creationId xmlns:p14="http://schemas.microsoft.com/office/powerpoint/2010/main" val="67973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Admin stuff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487" y="1250798"/>
            <a:ext cx="11339513" cy="360000"/>
          </a:xfrm>
        </p:spPr>
        <p:txBody>
          <a:bodyPr/>
          <a:lstStyle/>
          <a:p>
            <a:r>
              <a:rPr lang="en-US" dirty="0"/>
              <a:t>Bear with me, I have to do this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882432"/>
            <a:ext cx="11340000" cy="40963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DO NOT plagiarize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You can refer online resources, but use your own words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Submit reports individually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Grade disputes: Contact me within 5 days.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If we cannot resolve, contact </a:t>
            </a:r>
            <a:r>
              <a:rPr lang="en-CA" sz="2400" b="0" dirty="0" err="1">
                <a:solidFill>
                  <a:schemeClr val="bg1"/>
                </a:solidFill>
              </a:rPr>
              <a:t>PhysUGL</a:t>
            </a:r>
            <a:r>
              <a:rPr lang="en-CA" sz="2400" b="0" dirty="0">
                <a:solidFill>
                  <a:schemeClr val="bg1"/>
                </a:solidFill>
              </a:rPr>
              <a:t>. Re-</a:t>
            </a:r>
            <a:r>
              <a:rPr lang="en-CA" sz="2400" b="0" dirty="0" err="1">
                <a:solidFill>
                  <a:schemeClr val="bg1"/>
                </a:solidFill>
              </a:rPr>
              <a:t>assesments</a:t>
            </a:r>
            <a:r>
              <a:rPr lang="en-CA" sz="2400" b="0" dirty="0">
                <a:solidFill>
                  <a:schemeClr val="bg1"/>
                </a:solidFill>
              </a:rPr>
              <a:t> are holistic</a:t>
            </a:r>
          </a:p>
        </p:txBody>
      </p:sp>
    </p:spTree>
    <p:extLst>
      <p:ext uri="{BB962C8B-B14F-4D97-AF65-F5344CB8AC3E}">
        <p14:creationId xmlns:p14="http://schemas.microsoft.com/office/powerpoint/2010/main" val="285365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Lab 1: Goals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427356"/>
            <a:ext cx="11340000" cy="4551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How to use Spreadsheets (for future labs)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Google sheets/MS Excel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Linear fitting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LINEST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How to represent data: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Significant figures &amp; Error propagation 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Tabulating the data and plotting graphs</a:t>
            </a:r>
          </a:p>
        </p:txBody>
      </p:sp>
    </p:spTree>
    <p:extLst>
      <p:ext uri="{BB962C8B-B14F-4D97-AF65-F5344CB8AC3E}">
        <p14:creationId xmlns:p14="http://schemas.microsoft.com/office/powerpoint/2010/main" val="99840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Linear Data set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427356"/>
            <a:ext cx="11340000" cy="4551413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CA" sz="2800" b="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9F848-C769-BB44-9BCB-795E7D14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67" y="1635667"/>
            <a:ext cx="4152900" cy="389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B37A9B-F55D-7D4A-AC4D-051D5D0D4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854" y="1635667"/>
            <a:ext cx="2286218" cy="2334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40695-39FE-C444-AE05-ABBB4F437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413" y="4362295"/>
            <a:ext cx="2705100" cy="787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EF9F77-058A-2646-854F-AE1A787C956A}"/>
              </a:ext>
            </a:extLst>
          </p:cNvPr>
          <p:cNvSpPr txBox="1"/>
          <p:nvPr/>
        </p:nvSpPr>
        <p:spPr>
          <a:xfrm>
            <a:off x="1128132" y="5564129"/>
            <a:ext cx="2932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Credits: </a:t>
            </a:r>
            <a:r>
              <a:rPr lang="en-US" sz="2400" dirty="0" err="1">
                <a:solidFill>
                  <a:schemeClr val="bg1"/>
                </a:solidFill>
              </a:rPr>
              <a:t>Katryna</a:t>
            </a:r>
            <a:r>
              <a:rPr lang="en-US" sz="2400" dirty="0">
                <a:solidFill>
                  <a:schemeClr val="bg1"/>
                </a:solidFill>
              </a:rPr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177207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Step 1: Collecting &amp; representing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427356"/>
            <a:ext cx="11340000" cy="4551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Get data (mass vs. spring extension) from Canvas Module “Experimental data”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0BE445-D0CC-6A46-B027-48A8E054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54" y="2768457"/>
            <a:ext cx="7366000" cy="3098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E44925-440C-884B-9044-A11183FA5BD0}"/>
              </a:ext>
            </a:extLst>
          </p:cNvPr>
          <p:cNvSpPr/>
          <p:nvPr/>
        </p:nvSpPr>
        <p:spPr>
          <a:xfrm>
            <a:off x="512956" y="2698595"/>
            <a:ext cx="7513025" cy="724830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85520-6A8F-2C44-BAED-9E361D85495E}"/>
              </a:ext>
            </a:extLst>
          </p:cNvPr>
          <p:cNvSpPr txBox="1"/>
          <p:nvPr/>
        </p:nvSpPr>
        <p:spPr>
          <a:xfrm>
            <a:off x="8192435" y="2698595"/>
            <a:ext cx="3484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Title/Caption explaining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the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884C1-9C0B-B94A-96EC-CBCC6A3B8879}"/>
              </a:ext>
            </a:extLst>
          </p:cNvPr>
          <p:cNvSpPr/>
          <p:nvPr/>
        </p:nvSpPr>
        <p:spPr>
          <a:xfrm>
            <a:off x="524941" y="3423425"/>
            <a:ext cx="7513025" cy="724830"/>
          </a:xfrm>
          <a:prstGeom prst="rect">
            <a:avLst/>
          </a:prstGeom>
          <a:noFill/>
          <a:ln w="63500">
            <a:solidFill>
              <a:schemeClr val="accent3"/>
            </a:solidFill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C7EAC-04F5-5B49-BFC4-290433019010}"/>
              </a:ext>
            </a:extLst>
          </p:cNvPr>
          <p:cNvSpPr txBox="1"/>
          <p:nvPr/>
        </p:nvSpPr>
        <p:spPr>
          <a:xfrm>
            <a:off x="8192435" y="3555007"/>
            <a:ext cx="3484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Column headers with units &amp; </a:t>
            </a:r>
            <a:r>
              <a:rPr lang="en-US" sz="2400" b="1" dirty="0" err="1">
                <a:solidFill>
                  <a:schemeClr val="bg1"/>
                </a:solidFill>
              </a:rPr>
              <a:t>uncertainities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3F37F-E6E4-6347-BFCA-BB2025B7DC5C}"/>
              </a:ext>
            </a:extLst>
          </p:cNvPr>
          <p:cNvSpPr txBox="1"/>
          <p:nvPr/>
        </p:nvSpPr>
        <p:spPr>
          <a:xfrm>
            <a:off x="8192436" y="4582222"/>
            <a:ext cx="3492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Well formatted data: Aligned &amp; proper number of significant digits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FC1459-5909-FE42-9826-20DEAFD10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0" y="1724174"/>
            <a:ext cx="5401733" cy="40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2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Step 2: Plotting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ED9FF4-2BD9-DC41-8B75-886960AA49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510" y="1342103"/>
            <a:ext cx="6825913" cy="40827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12BC77-3643-0A41-9F53-20F0FF911D52}"/>
              </a:ext>
            </a:extLst>
          </p:cNvPr>
          <p:cNvSpPr txBox="1"/>
          <p:nvPr/>
        </p:nvSpPr>
        <p:spPr>
          <a:xfrm>
            <a:off x="8555954" y="4571590"/>
            <a:ext cx="3492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missing?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5D6D4-47B2-934D-B095-DD1F7B47F2E0}"/>
              </a:ext>
            </a:extLst>
          </p:cNvPr>
          <p:cNvSpPr txBox="1"/>
          <p:nvPr/>
        </p:nvSpPr>
        <p:spPr>
          <a:xfrm>
            <a:off x="1128131" y="5564129"/>
            <a:ext cx="454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Credits: Rohit </a:t>
            </a:r>
            <a:r>
              <a:rPr lang="en-US" sz="2400" dirty="0" err="1">
                <a:solidFill>
                  <a:schemeClr val="bg1"/>
                </a:solidFill>
              </a:rPr>
              <a:t>Vedhthaanth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Sekar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6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Step 2: Plotting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18745-1848-474A-919B-E79B0D331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612596"/>
            <a:ext cx="4958707" cy="416833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Caption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Optimize axis limits so that all data is on graph while reducing white space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Axis labels with units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Linear trendline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F3024-0CAF-7047-BAC7-5DD30A48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000" y="1612596"/>
            <a:ext cx="5907217" cy="4168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C372F4-57A4-4A4E-B3F0-D002680C0B06}"/>
              </a:ext>
            </a:extLst>
          </p:cNvPr>
          <p:cNvSpPr txBox="1"/>
          <p:nvPr/>
        </p:nvSpPr>
        <p:spPr>
          <a:xfrm>
            <a:off x="6582780" y="5780928"/>
            <a:ext cx="454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Credits: Rohit </a:t>
            </a:r>
            <a:r>
              <a:rPr lang="en-US" sz="2400" dirty="0" err="1">
                <a:solidFill>
                  <a:schemeClr val="bg1"/>
                </a:solidFill>
              </a:rPr>
              <a:t>Vedhthaanth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Sekar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3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772546"/>
          </a:xfrm>
        </p:spPr>
        <p:txBody>
          <a:bodyPr/>
          <a:lstStyle/>
          <a:p>
            <a:r>
              <a:rPr lang="en-US" sz="4800" dirty="0"/>
              <a:t>Step 2: Fitting the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18745-1848-474A-919B-E79B0D331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612596"/>
            <a:ext cx="6064493" cy="416833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LINEST (</a:t>
            </a:r>
            <a:r>
              <a:rPr lang="en-US" sz="2800" dirty="0" err="1">
                <a:solidFill>
                  <a:schemeClr val="bg1"/>
                </a:solidFill>
              </a:rPr>
              <a:t>Y_data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X_data</a:t>
            </a:r>
            <a:r>
              <a:rPr lang="en-US" sz="2800" dirty="0">
                <a:solidFill>
                  <a:schemeClr val="bg1"/>
                </a:solidFill>
              </a:rPr>
              <a:t>, True, True)</a:t>
            </a:r>
          </a:p>
          <a:p>
            <a:r>
              <a:rPr lang="en-US" sz="2800" dirty="0">
                <a:solidFill>
                  <a:schemeClr val="bg1"/>
                </a:solidFill>
              </a:rPr>
              <a:t>For this lab, focus on the first two rows and columns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A428E-DF07-BF4C-9C67-2E8CBA06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001" y="1772093"/>
            <a:ext cx="44577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6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53247"/>
            <a:ext cx="11340000" cy="772546"/>
          </a:xfrm>
        </p:spPr>
        <p:txBody>
          <a:bodyPr/>
          <a:lstStyle/>
          <a:p>
            <a:r>
              <a:rPr lang="en-US" sz="4800" dirty="0"/>
              <a:t>Significant digits and error-propagation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769423"/>
            <a:ext cx="11340000" cy="42093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Everything other than leading zeros is a significant digit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Round uncertainty to 1 significant digit</a:t>
            </a:r>
          </a:p>
          <a:p>
            <a:pPr lvl="1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Round the value to the same number of decimal places</a:t>
            </a:r>
          </a:p>
          <a:p>
            <a:pPr lvl="2">
              <a:lnSpc>
                <a:spcPct val="150000"/>
              </a:lnSpc>
            </a:pPr>
            <a:r>
              <a:rPr lang="en-CA" sz="2400" b="0" dirty="0">
                <a:solidFill>
                  <a:schemeClr val="bg1"/>
                </a:solidFill>
              </a:rPr>
              <a:t>E.g. 36042.149 ± 423.681 N 36.0 ± 0.4 </a:t>
            </a:r>
            <a:r>
              <a:rPr lang="en-CA" sz="2400" b="0" dirty="0" err="1">
                <a:solidFill>
                  <a:schemeClr val="bg1"/>
                </a:solidFill>
              </a:rPr>
              <a:t>kN</a:t>
            </a:r>
            <a:r>
              <a:rPr lang="en-CA" sz="2400" b="0" dirty="0">
                <a:solidFill>
                  <a:schemeClr val="bg1"/>
                </a:solidFill>
              </a:rPr>
              <a:t> or (3.60 ± 0.04) × 10</a:t>
            </a:r>
            <a:r>
              <a:rPr lang="en-CA" sz="2400" b="0" baseline="30000" dirty="0">
                <a:solidFill>
                  <a:schemeClr val="bg1"/>
                </a:solidFill>
              </a:rPr>
              <a:t>4 </a:t>
            </a:r>
            <a:r>
              <a:rPr lang="en-CA" sz="2400" b="0" dirty="0">
                <a:solidFill>
                  <a:schemeClr val="bg1"/>
                </a:solidFill>
              </a:rPr>
              <a:t>N</a:t>
            </a: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Check 5.3 of lab manual for error propagation rules</a:t>
            </a:r>
          </a:p>
        </p:txBody>
      </p:sp>
    </p:spTree>
    <p:extLst>
      <p:ext uri="{BB962C8B-B14F-4D97-AF65-F5344CB8AC3E}">
        <p14:creationId xmlns:p14="http://schemas.microsoft.com/office/powerpoint/2010/main" val="4588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53247"/>
            <a:ext cx="11340000" cy="772546"/>
          </a:xfrm>
        </p:spPr>
        <p:txBody>
          <a:bodyPr/>
          <a:lstStyle/>
          <a:p>
            <a:r>
              <a:rPr lang="en-US" sz="4800" dirty="0"/>
              <a:t>Are your results consistent?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769423"/>
            <a:ext cx="11340000" cy="420934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CA" sz="2800" b="0" dirty="0">
                <a:solidFill>
                  <a:schemeClr val="bg1"/>
                </a:solidFill>
              </a:rPr>
              <a:t>    	If you measure a quantity </a:t>
            </a:r>
            <a:r>
              <a:rPr lang="en-CA" sz="2800" b="0" i="1" dirty="0">
                <a:solidFill>
                  <a:schemeClr val="bg1"/>
                </a:solidFill>
              </a:rPr>
              <a:t>y’ </a:t>
            </a:r>
            <a:r>
              <a:rPr lang="en-CA" sz="2800" b="0" dirty="0">
                <a:solidFill>
                  <a:schemeClr val="bg1"/>
                </a:solidFill>
              </a:rPr>
              <a:t>and the expected value is y</a:t>
            </a:r>
            <a:r>
              <a:rPr lang="en-CA" sz="2800" b="0" baseline="-25000" dirty="0">
                <a:solidFill>
                  <a:schemeClr val="bg1"/>
                </a:solidFill>
              </a:rPr>
              <a:t>0</a:t>
            </a:r>
            <a:r>
              <a:rPr lang="en-CA" sz="2800" b="0" dirty="0">
                <a:solidFill>
                  <a:schemeClr val="bg1"/>
                </a:solidFill>
              </a:rPr>
              <a:t>, and you expect an error of ∆y,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800" b="0" dirty="0">
                <a:solidFill>
                  <a:schemeClr val="bg1"/>
                </a:solidFill>
              </a:rPr>
              <a:t>	Check  z = |y’ – y</a:t>
            </a:r>
            <a:r>
              <a:rPr lang="en-CA" sz="2800" b="0" baseline="-25000" dirty="0">
                <a:solidFill>
                  <a:schemeClr val="bg1"/>
                </a:solidFill>
              </a:rPr>
              <a:t>0</a:t>
            </a:r>
            <a:r>
              <a:rPr lang="en-CA" sz="2800" b="0" dirty="0">
                <a:solidFill>
                  <a:schemeClr val="bg1"/>
                </a:solidFill>
              </a:rPr>
              <a:t>|/ ∆y</a:t>
            </a:r>
          </a:p>
          <a:p>
            <a:pPr marL="276225" lvl="1" indent="0">
              <a:lnSpc>
                <a:spcPct val="100000"/>
              </a:lnSpc>
              <a:buNone/>
            </a:pPr>
            <a:r>
              <a:rPr lang="en-CA" sz="2400" b="0" dirty="0">
                <a:solidFill>
                  <a:schemeClr val="bg1"/>
                </a:solidFill>
              </a:rPr>
              <a:t>	z  &lt; 1: Good agreement</a:t>
            </a:r>
          </a:p>
          <a:p>
            <a:pPr marL="276225" lvl="1" indent="0">
              <a:lnSpc>
                <a:spcPct val="100000"/>
              </a:lnSpc>
              <a:buNone/>
            </a:pPr>
            <a:r>
              <a:rPr lang="en-CA" sz="2400" b="0" dirty="0">
                <a:solidFill>
                  <a:schemeClr val="bg1"/>
                </a:solidFill>
              </a:rPr>
              <a:t>	1&lt; z &lt; 2: Moderate agreement</a:t>
            </a:r>
            <a:br>
              <a:rPr lang="en-CA" sz="2400" b="0" dirty="0">
                <a:solidFill>
                  <a:schemeClr val="bg1"/>
                </a:solidFill>
              </a:rPr>
            </a:br>
            <a:r>
              <a:rPr lang="en-CA" sz="2400" b="0" dirty="0">
                <a:solidFill>
                  <a:schemeClr val="bg1"/>
                </a:solidFill>
              </a:rPr>
              <a:t>	2 &lt; z &lt; 3: poor agreement</a:t>
            </a:r>
          </a:p>
          <a:p>
            <a:pPr marL="276225" lvl="1" indent="0">
              <a:lnSpc>
                <a:spcPct val="100000"/>
              </a:lnSpc>
              <a:buNone/>
            </a:pPr>
            <a:r>
              <a:rPr lang="en-CA" sz="2400" b="0" dirty="0">
                <a:solidFill>
                  <a:schemeClr val="bg1"/>
                </a:solidFill>
              </a:rPr>
              <a:t>	z &gt; 3: No agreement</a:t>
            </a:r>
          </a:p>
          <a:p>
            <a:pPr marL="276225" lvl="1" indent="0">
              <a:lnSpc>
                <a:spcPct val="100000"/>
              </a:lnSpc>
              <a:buNone/>
            </a:pPr>
            <a:r>
              <a:rPr lang="en-CA" sz="2400" b="0" dirty="0">
                <a:solidFill>
                  <a:schemeClr val="bg1"/>
                </a:solidFill>
              </a:rPr>
              <a:t>Refer section 3.3.5 of lab manual for details</a:t>
            </a:r>
          </a:p>
          <a:p>
            <a:pPr marL="0" indent="0">
              <a:lnSpc>
                <a:spcPct val="150000"/>
              </a:lnSpc>
              <a:buNone/>
            </a:pPr>
            <a:endParaRPr lang="en-CA" sz="2800" b="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CA" sz="2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309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53247"/>
            <a:ext cx="11340000" cy="772546"/>
          </a:xfrm>
        </p:spPr>
        <p:txBody>
          <a:bodyPr/>
          <a:lstStyle/>
          <a:p>
            <a:r>
              <a:rPr lang="en-US" sz="4800" dirty="0"/>
              <a:t>Let the lab begin!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45195A-98E5-9044-9220-FA5447D80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769423"/>
            <a:ext cx="11340000" cy="42093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Check the lab manual</a:t>
            </a:r>
          </a:p>
          <a:p>
            <a:pPr>
              <a:lnSpc>
                <a:spcPct val="150000"/>
              </a:lnSpc>
            </a:pPr>
            <a:r>
              <a:rPr lang="en-CA" sz="2800" b="0" dirty="0">
                <a:solidFill>
                  <a:schemeClr val="bg1"/>
                </a:solidFill>
              </a:rPr>
              <a:t>Show me the table and the diagram before you leave</a:t>
            </a:r>
          </a:p>
          <a:p>
            <a:pPr>
              <a:lnSpc>
                <a:spcPct val="150000"/>
              </a:lnSpc>
            </a:pPr>
            <a:endParaRPr lang="en-CA" sz="2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8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1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056AFF"/>
      </a:accent1>
      <a:accent2>
        <a:srgbClr val="FF391E"/>
      </a:accent2>
      <a:accent3>
        <a:srgbClr val="A1CC18"/>
      </a:accent3>
      <a:accent4>
        <a:srgbClr val="FFC000"/>
      </a:accent4>
      <a:accent5>
        <a:srgbClr val="1554B2"/>
      </a:accent5>
      <a:accent6>
        <a:srgbClr val="8BB20C"/>
      </a:accent6>
      <a:hlink>
        <a:srgbClr val="056AFF"/>
      </a:hlink>
      <a:folHlink>
        <a:srgbClr val="056AFF"/>
      </a:folHlink>
    </a:clrScheme>
    <a:fontScheme name="Custom 150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83186">
              <a:schemeClr val="tx1"/>
            </a:gs>
            <a:gs pos="0">
              <a:schemeClr val="accent1">
                <a:alpha val="50000"/>
              </a:schemeClr>
            </a:gs>
            <a:gs pos="46000">
              <a:schemeClr val="accent1">
                <a:lumMod val="50000"/>
                <a:alpha val="90000"/>
              </a:schemeClr>
            </a:gs>
          </a:gsLst>
          <a:lin ang="3600000" scaled="0"/>
        </a:gradFill>
      </a:spPr>
      <a:bodyPr vert="horz" lIns="72000" tIns="180000" rIns="180000" bIns="0" rtlCol="0" anchor="t">
        <a:noAutofit/>
      </a:bodyPr>
      <a:lstStyle>
        <a:defPPr algn="r">
          <a:lnSpc>
            <a:spcPts val="4700"/>
          </a:lnSpc>
          <a:spcBef>
            <a:spcPct val="0"/>
          </a:spcBef>
          <a:defRPr sz="4500">
            <a:solidFill>
              <a:schemeClr val="bg1"/>
            </a:solidFill>
            <a:latin typeface="Rockwell" panose="02060603020205020403" pitchFamily="18" charset="0"/>
            <a:ea typeface="+mj-ea"/>
            <a:cs typeface="+mj-c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Dark_wood" id="{4B1F5259-2C0E-6246-BC47-3E34BABEBA03}" vid="{1FEBA5F9-64F5-024E-9FA1-C99BE0FB37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35D37E-7F4E-4FAA-AEBF-D3016C5066C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4B36EA-CF11-40D0-93CA-F9002F3EA3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4D3619-0FAE-444B-BDB2-2354531561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476</Words>
  <Application>Microsoft Macintosh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Helvetica Neue</vt:lpstr>
      <vt:lpstr>Helvetica Neue Medium</vt:lpstr>
      <vt:lpstr>Rockwell</vt:lpstr>
      <vt:lpstr>Times New Roman</vt:lpstr>
      <vt:lpstr>Office Theme</vt:lpstr>
      <vt:lpstr>Graphing &amp; Spreadsheets</vt:lpstr>
      <vt:lpstr>Who am I?</vt:lpstr>
      <vt:lpstr>Admin stuff</vt:lpstr>
      <vt:lpstr>Admin stuff</vt:lpstr>
      <vt:lpstr>Admin stuff</vt:lpstr>
      <vt:lpstr>Lab 1: Goals</vt:lpstr>
      <vt:lpstr>Linear Data set</vt:lpstr>
      <vt:lpstr>Step 1: Collecting &amp; representing data</vt:lpstr>
      <vt:lpstr>Step 2: Plotting data</vt:lpstr>
      <vt:lpstr>Step 2: Plotting data</vt:lpstr>
      <vt:lpstr>Step 2: Fitting the data</vt:lpstr>
      <vt:lpstr>Significant digits and error-propagation</vt:lpstr>
      <vt:lpstr>Are your results consistent?</vt:lpstr>
      <vt:lpstr>Let the lab begin!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Hebbar</dc:creator>
  <cp:lastModifiedBy/>
  <cp:revision>1</cp:revision>
  <dcterms:created xsi:type="dcterms:W3CDTF">2025-09-15T21:41:13Z</dcterms:created>
  <dcterms:modified xsi:type="dcterms:W3CDTF">2025-09-16T16:10:18Z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